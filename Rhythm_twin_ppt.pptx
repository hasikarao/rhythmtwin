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961120" y="182880"/>
            <a:ext cx="2194560" cy="2194560"/>
          </a:xfrm>
          <a:prstGeom prst="ellipse">
            <a:avLst/>
          </a:prstGeom>
          <a:solidFill>
            <a:srgbClr val="18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914400"/>
            <a:ext cx="1234440" cy="1234440"/>
          </a:xfrm>
          <a:prstGeom prst="ellipse">
            <a:avLst/>
          </a:prstGeom>
          <a:solidFill>
            <a:srgbClr val="1C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5029200"/>
            <a:ext cx="1005840" cy="1005840"/>
          </a:xfrm>
          <a:prstGeom prst="ellipse">
            <a:avLst/>
          </a:prstGeom>
          <a:solidFill>
            <a:srgbClr val="1B4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777240"/>
            <a:ext cx="71323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200" b="1">
                <a:solidFill>
                  <a:srgbClr val="27C6B0"/>
                </a:solidFill>
                <a:latin typeface="Aptos"/>
              </a:defRPr>
            </a:pPr>
            <a:r>
              <a:t>HAPPIEST HEALTH DIGITAL TWIN CHALLENGE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7772400" cy="1417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4400" b="1">
                <a:solidFill>
                  <a:srgbClr val="F5F8FC"/>
                </a:solidFill>
                <a:latin typeface="Aptos Display"/>
              </a:defRPr>
            </a:pPr>
            <a:r>
              <a:t>RhythmTwin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743200"/>
            <a:ext cx="7315200" cy="7772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500" b="1">
                <a:solidFill>
                  <a:srgbClr val="47A0E8"/>
                </a:solidFill>
                <a:latin typeface="Aptos"/>
              </a:defRPr>
            </a:pPr>
            <a:r>
              <a:t>AI-Powered Heart Rhythm Digital Twin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675887"/>
            <a:ext cx="658368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700" b="0">
                <a:solidFill>
                  <a:srgbClr val="B4C3D2"/>
                </a:solidFill>
                <a:latin typeface="Aptos"/>
              </a:defRPr>
            </a:pPr>
            <a:r>
              <a:t>An interactive research prototype for exploring ECG heartbeat patterns with machine learning.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690873"/>
            <a:ext cx="3063240" cy="649223"/>
          </a:xfrm>
          <a:prstGeom prst="roundRect">
            <a:avLst/>
          </a:prstGeom>
          <a:solidFill>
            <a:srgbClr val="143A46"/>
          </a:solidFill>
          <a:ln>
            <a:solidFill>
              <a:srgbClr val="27C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rPr lang="en-IN" dirty="0"/>
              <a:t>NAME-HASIKA PALLEPATI</a:t>
            </a:r>
          </a:p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rPr lang="en-IN" dirty="0"/>
              <a:t>COLLEGE NAME</a:t>
            </a:r>
            <a:r>
              <a:rPr dirty="0"/>
              <a:t>  •  KLH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987552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000" b="1">
                <a:solidFill>
                  <a:srgbClr val="27C6B0"/>
                </a:solidFill>
                <a:latin typeface="Aptos"/>
              </a:defRPr>
            </a:pPr>
            <a:r>
              <a:t>01 • PROBLEM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"/>
              </a:defRPr>
            </a:pPr>
            <a:r>
              <a:t>The problem: ECG interpretation is complex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43584"/>
            <a:ext cx="960120" cy="41148"/>
          </a:xfrm>
          <a:prstGeom prst="rect">
            <a:avLst/>
          </a:prstGeom>
          <a:solidFill>
            <a:srgbClr val="27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B4C3D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27632"/>
            <a:ext cx="3520440" cy="1828800"/>
          </a:xfrm>
          <a:prstGeom prst="roundRect">
            <a:avLst/>
          </a:prstGeom>
          <a:solidFill>
            <a:srgbClr val="182D42"/>
          </a:solidFill>
          <a:ln>
            <a:solidFill>
              <a:srgbClr val="30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ctr"/>
          <a:lstStyle/>
          <a:p>
            <a:pPr algn="ctr">
              <a:defRPr sz="1700" b="1">
                <a:solidFill>
                  <a:srgbClr val="27C6B0"/>
                </a:solidFill>
                <a:latin typeface="Aptos Display"/>
              </a:defRPr>
            </a:pPr>
            <a:r>
              <a:t>THE CHALLENGE</a:t>
            </a:r>
          </a:p>
          <a:p>
            <a:pPr>
              <a:spcBef>
                <a:spcPts val="700"/>
              </a:spcBef>
              <a:defRPr sz="1600">
                <a:solidFill>
                  <a:srgbClr val="F5F8FC"/>
                </a:solidFill>
                <a:latin typeface="Aptos"/>
              </a:defRPr>
            </a:pPr>
            <a:r>
              <a:t>ECG recordings contain patterns that can be difficult to interpret consistently, especially across different heartbeat categories.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627632"/>
            <a:ext cx="3520440" cy="1828800"/>
          </a:xfrm>
          <a:prstGeom prst="roundRect">
            <a:avLst/>
          </a:prstGeom>
          <a:solidFill>
            <a:srgbClr val="182D42"/>
          </a:solidFill>
          <a:ln>
            <a:solidFill>
              <a:srgbClr val="30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ctr"/>
          <a:lstStyle/>
          <a:p>
            <a:pPr algn="ctr">
              <a:defRPr sz="1700" b="1">
                <a:solidFill>
                  <a:srgbClr val="47A0E8"/>
                </a:solidFill>
                <a:latin typeface="Aptos Display"/>
              </a:defRPr>
            </a:pPr>
            <a:r>
              <a:t>WHY AI?</a:t>
            </a:r>
          </a:p>
          <a:p>
            <a:pPr>
              <a:spcBef>
                <a:spcPts val="700"/>
              </a:spcBef>
              <a:defRPr sz="1600">
                <a:solidFill>
                  <a:srgbClr val="F5F8FC"/>
                </a:solidFill>
                <a:latin typeface="Aptos"/>
              </a:defRPr>
            </a:pPr>
            <a:r>
              <a:t>Machine learning can learn patterns from labelled heartbeat examples and help demonstrate automated classification workflows.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27632"/>
            <a:ext cx="3493008" cy="1828800"/>
          </a:xfrm>
          <a:prstGeom prst="roundRect">
            <a:avLst/>
          </a:prstGeom>
          <a:solidFill>
            <a:srgbClr val="182D42"/>
          </a:solidFill>
          <a:ln>
            <a:solidFill>
              <a:srgbClr val="30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ctr"/>
          <a:lstStyle/>
          <a:p>
            <a:pPr algn="ctr">
              <a:defRPr sz="1700" b="1">
                <a:solidFill>
                  <a:srgbClr val="9B77FF"/>
                </a:solidFill>
                <a:latin typeface="Aptos Display"/>
              </a:defRPr>
            </a:pPr>
            <a:r>
              <a:t>WHY A DIGITAL TWIN?</a:t>
            </a:r>
          </a:p>
          <a:p>
            <a:pPr>
              <a:spcBef>
                <a:spcPts val="700"/>
              </a:spcBef>
              <a:defRPr sz="1600">
                <a:solidFill>
                  <a:srgbClr val="F5F8FC"/>
                </a:solidFill>
                <a:latin typeface="Aptos"/>
              </a:defRPr>
            </a:pPr>
            <a:r>
              <a:t>A visual, interactive view can connect signal data, model predictions and review-oriented summaries in one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5156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000" b="1">
                <a:solidFill>
                  <a:srgbClr val="27C6B0"/>
                </a:solidFill>
                <a:latin typeface="Aptos"/>
              </a:defRPr>
            </a:pPr>
            <a:r>
              <a:t>Project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80560"/>
            <a:ext cx="1042416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300" b="0">
                <a:solidFill>
                  <a:srgbClr val="F5F8FC"/>
                </a:solidFill>
                <a:latin typeface="Aptos"/>
              </a:defRPr>
            </a:pPr>
            <a:r>
              <a:t>Build a Streamlit dashboard that displays ECG waveform information and machine-learning heartbeat predictions for research and educational exploration.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987552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000" b="1">
                <a:solidFill>
                  <a:srgbClr val="27C6B0"/>
                </a:solidFill>
                <a:latin typeface="Aptos"/>
              </a:defRPr>
            </a:pPr>
            <a:r>
              <a:t>02 • 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"/>
              </a:defRPr>
            </a:pPr>
            <a:r>
              <a:t>RhythmTwin: the 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43584"/>
            <a:ext cx="960120" cy="41148"/>
          </a:xfrm>
          <a:prstGeom prst="rect">
            <a:avLst/>
          </a:prstGeom>
          <a:solidFill>
            <a:srgbClr val="27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B4C3D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12064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100" b="1">
                <a:solidFill>
                  <a:srgbClr val="27C6B0"/>
                </a:solidFill>
                <a:latin typeface="Aptos"/>
              </a:defRPr>
            </a:pPr>
            <a:r>
              <a:t>One dashboard, three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148840"/>
            <a:ext cx="5212080" cy="3474720"/>
          </a:xfrm>
          <a:prstGeom prst="rect">
            <a:avLst/>
          </a:prstGeom>
          <a:noFill/>
        </p:spPr>
        <p:txBody>
          <a:bodyPr wrap="square" lIns="54864" tIns="54864" rIns="36576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•  ECG waveform visualization</a:t>
            </a:r>
          </a:p>
          <a:p>
            <a:pPr>
              <a:spcAft>
                <a:spcPts val="12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•  Heartbeat-category predictions from a trained model</a:t>
            </a:r>
          </a:p>
          <a:p>
            <a:pPr>
              <a:spcAft>
                <a:spcPts val="12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•  Prediction summaries and detected-beat results</a:t>
            </a:r>
          </a:p>
          <a:p>
            <a:pPr>
              <a:spcAft>
                <a:spcPts val="12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•  A research-oriented interface for inspecting outputs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72768"/>
            <a:ext cx="4892040" cy="4251960"/>
          </a:xfrm>
          <a:prstGeom prst="roundRect">
            <a:avLst/>
          </a:prstGeom>
          <a:solidFill>
            <a:srgbClr val="08111C"/>
          </a:solidFill>
          <a:ln>
            <a:solidFill>
              <a:srgbClr val="345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56832" y="1755648"/>
            <a:ext cx="43891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100" b="1">
                <a:solidFill>
                  <a:srgbClr val="27C6B0"/>
                </a:solidFill>
                <a:latin typeface="Aptos"/>
              </a:defRPr>
            </a:pPr>
            <a:r>
              <a:t>RHYTHMTWIN  / 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56832" y="2212848"/>
            <a:ext cx="4370832" cy="1965960"/>
          </a:xfrm>
          <a:prstGeom prst="roundRect">
            <a:avLst/>
          </a:prstGeom>
          <a:solidFill>
            <a:srgbClr val="102230"/>
          </a:solidFill>
          <a:ln>
            <a:solidFill>
              <a:srgbClr val="27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6839712" y="3337560"/>
            <a:ext cx="292608" cy="0"/>
          </a:xfrm>
          <a:prstGeom prst="line">
            <a:avLst/>
          </a:prstGeom>
          <a:ln w="22860">
            <a:solidFill>
              <a:srgbClr val="27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132320" y="3273552"/>
            <a:ext cx="137160" cy="64008"/>
          </a:xfrm>
          <a:prstGeom prst="line">
            <a:avLst/>
          </a:prstGeom>
          <a:ln w="22860">
            <a:solidFill>
              <a:srgbClr val="27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269480" y="3273552"/>
            <a:ext cx="118872" cy="182880"/>
          </a:xfrm>
          <a:prstGeom prst="line">
            <a:avLst/>
          </a:prstGeom>
          <a:ln w="22860">
            <a:solidFill>
              <a:srgbClr val="27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388352" y="2606040"/>
            <a:ext cx="128016" cy="850392"/>
          </a:xfrm>
          <a:prstGeom prst="line">
            <a:avLst/>
          </a:prstGeom>
          <a:ln w="22860">
            <a:solidFill>
              <a:srgbClr val="27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516368" y="2606040"/>
            <a:ext cx="118872" cy="1051560"/>
          </a:xfrm>
          <a:prstGeom prst="line">
            <a:avLst/>
          </a:prstGeom>
          <a:ln w="22860">
            <a:solidFill>
              <a:srgbClr val="27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635240" y="3310128"/>
            <a:ext cx="118872" cy="347472"/>
          </a:xfrm>
          <a:prstGeom prst="line">
            <a:avLst/>
          </a:prstGeom>
          <a:ln w="22860">
            <a:solidFill>
              <a:srgbClr val="27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54112" y="3310128"/>
            <a:ext cx="219456" cy="27432"/>
          </a:xfrm>
          <a:prstGeom prst="line">
            <a:avLst/>
          </a:prstGeom>
          <a:ln w="22860">
            <a:solidFill>
              <a:srgbClr val="27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973568" y="3337560"/>
            <a:ext cx="210311" cy="0"/>
          </a:xfrm>
          <a:prstGeom prst="line">
            <a:avLst/>
          </a:prstGeom>
          <a:ln w="22860">
            <a:solidFill>
              <a:srgbClr val="27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183879" y="3273552"/>
            <a:ext cx="137161" cy="64008"/>
          </a:xfrm>
          <a:prstGeom prst="line">
            <a:avLst/>
          </a:prstGeom>
          <a:ln w="22860">
            <a:solidFill>
              <a:srgbClr val="27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321040" y="3273552"/>
            <a:ext cx="137160" cy="173736"/>
          </a:xfrm>
          <a:prstGeom prst="line">
            <a:avLst/>
          </a:prstGeom>
          <a:ln w="22860">
            <a:solidFill>
              <a:srgbClr val="27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458200" y="2633472"/>
            <a:ext cx="118872" cy="813816"/>
          </a:xfrm>
          <a:prstGeom prst="line">
            <a:avLst/>
          </a:prstGeom>
          <a:ln w="22860">
            <a:solidFill>
              <a:srgbClr val="27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77072" y="2633472"/>
            <a:ext cx="109728" cy="1024128"/>
          </a:xfrm>
          <a:prstGeom prst="line">
            <a:avLst/>
          </a:prstGeom>
          <a:ln w="22860">
            <a:solidFill>
              <a:srgbClr val="27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686800" y="3310128"/>
            <a:ext cx="137160" cy="347472"/>
          </a:xfrm>
          <a:prstGeom prst="line">
            <a:avLst/>
          </a:prstGeom>
          <a:ln w="22860">
            <a:solidFill>
              <a:srgbClr val="27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23960" y="3310128"/>
            <a:ext cx="228600" cy="27432"/>
          </a:xfrm>
          <a:prstGeom prst="line">
            <a:avLst/>
          </a:prstGeom>
          <a:ln w="22860">
            <a:solidFill>
              <a:srgbClr val="27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3337560"/>
            <a:ext cx="228600" cy="0"/>
          </a:xfrm>
          <a:prstGeom prst="line">
            <a:avLst/>
          </a:prstGeom>
          <a:ln w="22860">
            <a:solidFill>
              <a:srgbClr val="27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281160" y="3255264"/>
            <a:ext cx="155448" cy="82296"/>
          </a:xfrm>
          <a:prstGeom prst="line">
            <a:avLst/>
          </a:prstGeom>
          <a:ln w="22860">
            <a:solidFill>
              <a:srgbClr val="27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436608" y="3255264"/>
            <a:ext cx="128016" cy="201168"/>
          </a:xfrm>
          <a:prstGeom prst="line">
            <a:avLst/>
          </a:prstGeom>
          <a:ln w="22860">
            <a:solidFill>
              <a:srgbClr val="27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564624" y="2670048"/>
            <a:ext cx="128016" cy="786384"/>
          </a:xfrm>
          <a:prstGeom prst="line">
            <a:avLst/>
          </a:prstGeom>
          <a:ln w="22860">
            <a:solidFill>
              <a:srgbClr val="27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692640" y="2670048"/>
            <a:ext cx="128016" cy="969264"/>
          </a:xfrm>
          <a:prstGeom prst="line">
            <a:avLst/>
          </a:prstGeom>
          <a:ln w="22860">
            <a:solidFill>
              <a:srgbClr val="27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820656" y="3319272"/>
            <a:ext cx="146304" cy="320040"/>
          </a:xfrm>
          <a:prstGeom prst="line">
            <a:avLst/>
          </a:prstGeom>
          <a:ln w="22860">
            <a:solidFill>
              <a:srgbClr val="27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966960" y="3319272"/>
            <a:ext cx="320040" cy="18288"/>
          </a:xfrm>
          <a:prstGeom prst="line">
            <a:avLst/>
          </a:prstGeom>
          <a:ln w="22860">
            <a:solidFill>
              <a:srgbClr val="27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287000" y="3337560"/>
            <a:ext cx="365760" cy="0"/>
          </a:xfrm>
          <a:prstGeom prst="line">
            <a:avLst/>
          </a:prstGeom>
          <a:ln w="22860">
            <a:solidFill>
              <a:srgbClr val="27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656832" y="4407408"/>
            <a:ext cx="2057400" cy="1051560"/>
          </a:xfrm>
          <a:prstGeom prst="roundRect">
            <a:avLst/>
          </a:prstGeom>
          <a:solidFill>
            <a:srgbClr val="182D42"/>
          </a:solidFill>
          <a:ln>
            <a:solidFill>
              <a:srgbClr val="30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ctr"/>
          <a:lstStyle/>
          <a:p>
            <a:pPr algn="ctr">
              <a:defRPr sz="1700" b="1">
                <a:solidFill>
                  <a:srgbClr val="47A0E8"/>
                </a:solidFill>
                <a:latin typeface="Aptos Display"/>
              </a:defRPr>
            </a:pPr>
            <a:r>
              <a:t>PREDICTION</a:t>
            </a:r>
          </a:p>
          <a:p>
            <a:pPr>
              <a:spcBef>
                <a:spcPts val="7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Model output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42832" y="4407408"/>
            <a:ext cx="2084831" cy="1051560"/>
          </a:xfrm>
          <a:prstGeom prst="roundRect">
            <a:avLst/>
          </a:prstGeom>
          <a:solidFill>
            <a:srgbClr val="182D42"/>
          </a:solidFill>
          <a:ln>
            <a:solidFill>
              <a:srgbClr val="30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ctr"/>
          <a:lstStyle/>
          <a:p>
            <a:pPr algn="ctr">
              <a:defRPr sz="1700" b="1">
                <a:solidFill>
                  <a:srgbClr val="44CD87"/>
                </a:solidFill>
                <a:latin typeface="Aptos Display"/>
              </a:defRPr>
            </a:pPr>
            <a:r>
              <a:t>SUMMARY</a:t>
            </a:r>
          </a:p>
          <a:p>
            <a:pPr>
              <a:spcBef>
                <a:spcPts val="700"/>
              </a:spcBef>
              <a:defRPr sz="1200">
                <a:solidFill>
                  <a:srgbClr val="F5F8FC"/>
                </a:solidFill>
                <a:latin typeface="Aptos"/>
              </a:defRPr>
            </a:pPr>
            <a:r>
              <a:t>Review outputs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987552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000" b="1">
                <a:solidFill>
                  <a:srgbClr val="27C6B0"/>
                </a:solidFill>
                <a:latin typeface="Aptos"/>
              </a:defRPr>
            </a:pPr>
            <a:r>
              <a:t>03 • DATA AND APPLICATION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43584"/>
            <a:ext cx="960120" cy="41148"/>
          </a:xfrm>
          <a:prstGeom prst="rect">
            <a:avLst/>
          </a:prstGeom>
          <a:solidFill>
            <a:srgbClr val="27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B4C3D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40280"/>
            <a:ext cx="2011680" cy="914400"/>
          </a:xfrm>
          <a:prstGeom prst="roundRect">
            <a:avLst/>
          </a:prstGeom>
          <a:solidFill>
            <a:srgbClr val="182D42"/>
          </a:solidFill>
          <a:ln>
            <a:solidFill>
              <a:srgbClr val="47A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300" b="1">
                <a:solidFill>
                  <a:srgbClr val="F5F8FC"/>
                </a:solidFill>
                <a:latin typeface="Aptos"/>
              </a:defRPr>
            </a:pPr>
            <a:r>
              <a:t>MIT-BIH ECG</a:t>
            </a:r>
          </a:p>
          <a:p>
            <a:pPr algn="ctr">
              <a:defRPr sz="1000">
                <a:solidFill>
                  <a:srgbClr val="B4C3D2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2240280"/>
            <a:ext cx="2011680" cy="914400"/>
          </a:xfrm>
          <a:prstGeom prst="roundRect">
            <a:avLst/>
          </a:prstGeom>
          <a:solidFill>
            <a:srgbClr val="182D42"/>
          </a:solidFill>
          <a:ln>
            <a:solidFill>
              <a:srgbClr val="47A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300" b="1">
                <a:solidFill>
                  <a:srgbClr val="F5F8FC"/>
                </a:solidFill>
                <a:latin typeface="Aptos"/>
              </a:defRPr>
            </a:pPr>
            <a:r>
              <a:t>Data preparation</a:t>
            </a:r>
          </a:p>
          <a:p>
            <a:pPr algn="ctr">
              <a:defRPr sz="1000">
                <a:solidFill>
                  <a:srgbClr val="B4C3D2"/>
                </a:solidFill>
                <a:latin typeface="Aptos"/>
              </a:defRPr>
            </a:pPr>
            <a:r>
              <a:t>Features / 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2240280"/>
            <a:ext cx="2011680" cy="914400"/>
          </a:xfrm>
          <a:prstGeom prst="roundRect">
            <a:avLst/>
          </a:prstGeom>
          <a:solidFill>
            <a:srgbClr val="382B5D"/>
          </a:solidFill>
          <a:ln>
            <a:solidFill>
              <a:srgbClr val="9B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300" b="1">
                <a:solidFill>
                  <a:srgbClr val="F5F8FC"/>
                </a:solidFill>
                <a:latin typeface="Aptos"/>
              </a:defRPr>
            </a:pPr>
            <a:r>
              <a:t>Random Forest</a:t>
            </a:r>
          </a:p>
          <a:p>
            <a:pPr algn="ctr">
              <a:defRPr sz="1000">
                <a:solidFill>
                  <a:srgbClr val="B4C3D2"/>
                </a:solidFill>
                <a:latin typeface="Aptos"/>
              </a:defRPr>
            </a:pPr>
            <a:r>
              <a:t>Trained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2240280"/>
            <a:ext cx="2011680" cy="914400"/>
          </a:xfrm>
          <a:prstGeom prst="roundRect">
            <a:avLst/>
          </a:prstGeom>
          <a:solidFill>
            <a:srgbClr val="382B5D"/>
          </a:solidFill>
          <a:ln>
            <a:solidFill>
              <a:srgbClr val="9B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300" b="1">
                <a:solidFill>
                  <a:srgbClr val="F5F8FC"/>
                </a:solidFill>
                <a:latin typeface="Aptos"/>
              </a:defRPr>
            </a:pPr>
            <a:r>
              <a:t>Classification</a:t>
            </a:r>
          </a:p>
          <a:p>
            <a:pPr algn="ctr">
              <a:defRPr sz="1000">
                <a:solidFill>
                  <a:srgbClr val="B4C3D2"/>
                </a:solidFill>
                <a:latin typeface="Aptos"/>
              </a:defRPr>
            </a:pPr>
            <a:r>
              <a:t>Predicted classes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12680" y="4069080"/>
            <a:ext cx="1600200" cy="914400"/>
          </a:xfrm>
          <a:prstGeom prst="roundRect">
            <a:avLst/>
          </a:prstGeom>
          <a:solidFill>
            <a:srgbClr val="144B30"/>
          </a:solidFill>
          <a:ln>
            <a:solidFill>
              <a:srgbClr val="44C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300" b="1">
                <a:solidFill>
                  <a:srgbClr val="F5F8FC"/>
                </a:solidFill>
                <a:latin typeface="Aptos"/>
              </a:defRPr>
            </a:pPr>
            <a:r>
              <a:t>Streamlit UI</a:t>
            </a:r>
          </a:p>
          <a:p>
            <a:pPr algn="ctr">
              <a:defRPr sz="1000">
                <a:solidFill>
                  <a:srgbClr val="B4C3D2"/>
                </a:solidFill>
                <a:latin typeface="Aptos"/>
              </a:defRPr>
            </a:pPr>
            <a:r>
              <a:t>Dashboard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06040" y="2697480"/>
            <a:ext cx="457200" cy="0"/>
          </a:xfrm>
          <a:prstGeom prst="line">
            <a:avLst/>
          </a:prstGeom>
          <a:ln w="25400">
            <a:solidFill>
              <a:srgbClr val="47A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74920" y="2697480"/>
            <a:ext cx="457200" cy="0"/>
          </a:xfrm>
          <a:prstGeom prst="line">
            <a:avLst/>
          </a:prstGeom>
          <a:ln w="25400">
            <a:solidFill>
              <a:srgbClr val="47A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43800" y="2697480"/>
            <a:ext cx="457200" cy="0"/>
          </a:xfrm>
          <a:prstGeom prst="line">
            <a:avLst/>
          </a:prstGeom>
          <a:ln w="25400">
            <a:solidFill>
              <a:srgbClr val="47A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06840" y="3154680"/>
            <a:ext cx="1325880" cy="914400"/>
          </a:xfrm>
          <a:prstGeom prst="line">
            <a:avLst/>
          </a:prstGeom>
          <a:ln w="25400">
            <a:solidFill>
              <a:srgbClr val="47A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40680" y="4160520"/>
            <a:ext cx="2057400" cy="749808"/>
          </a:xfrm>
          <a:prstGeom prst="roundRect">
            <a:avLst/>
          </a:prstGeom>
          <a:solidFill>
            <a:srgbClr val="182D42"/>
          </a:solidFill>
          <a:ln>
            <a:solidFill>
              <a:srgbClr val="27C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rhythmtwin_model.joblib</a:t>
            </a:r>
          </a:p>
          <a:p>
            <a:pPr algn="ctr">
              <a:defRPr sz="1000">
                <a:solidFill>
                  <a:srgbClr val="B4C3D2"/>
                </a:solidFill>
                <a:latin typeface="Aptos"/>
              </a:defRPr>
            </a:pPr>
            <a:r>
              <a:t>Saved model file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473952" y="3154680"/>
            <a:ext cx="0" cy="1005840"/>
          </a:xfrm>
          <a:prstGeom prst="line">
            <a:avLst/>
          </a:prstGeom>
          <a:ln w="19050">
            <a:solidFill>
              <a:srgbClr val="27C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5440680"/>
            <a:ext cx="896112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500" b="1">
                <a:solidFill>
                  <a:srgbClr val="F5F8FC"/>
                </a:solidFill>
                <a:latin typeface="Aptos"/>
              </a:defRPr>
            </a:pPr>
            <a:r>
              <a:t>Dashboard outputs: ECG waveform • prediction summary • detected-beat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987552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000" b="1">
                <a:solidFill>
                  <a:srgbClr val="27C6B0"/>
                </a:solidFill>
                <a:latin typeface="Aptos"/>
              </a:defRPr>
            </a:pPr>
            <a:r>
              <a:t>04 • DATASET &amp;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"/>
              </a:defRPr>
            </a:pPr>
            <a:r>
              <a:t>Data and machine-learning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43584"/>
            <a:ext cx="960120" cy="41148"/>
          </a:xfrm>
          <a:prstGeom prst="rect">
            <a:avLst/>
          </a:prstGeom>
          <a:solidFill>
            <a:srgbClr val="27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B4C3D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3474720" cy="1965960"/>
          </a:xfrm>
          <a:prstGeom prst="roundRect">
            <a:avLst/>
          </a:prstGeom>
          <a:solidFill>
            <a:srgbClr val="182D42"/>
          </a:solidFill>
          <a:ln>
            <a:solidFill>
              <a:srgbClr val="30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ctr"/>
          <a:lstStyle/>
          <a:p>
            <a:pPr algn="ctr">
              <a:defRPr sz="1700" b="1">
                <a:solidFill>
                  <a:srgbClr val="47A0E8"/>
                </a:solidFill>
                <a:latin typeface="Aptos Display"/>
              </a:defRPr>
            </a:pPr>
            <a:r>
              <a:t>DATA SOURCE</a:t>
            </a:r>
          </a:p>
          <a:p>
            <a:pPr>
              <a:spcBef>
                <a:spcPts val="700"/>
              </a:spcBef>
              <a:defRPr sz="1600">
                <a:solidFill>
                  <a:srgbClr val="F5F8FC"/>
                </a:solidFill>
                <a:latin typeface="Aptos"/>
              </a:defRPr>
            </a:pPr>
            <a:r>
              <a:t>MIT-BIH Arrhythmia Database</a:t>
            </a:r>
          </a:p>
          <a:p>
            <a:pPr>
              <a:spcBef>
                <a:spcPts val="700"/>
              </a:spcBef>
              <a:defRPr sz="1600">
                <a:solidFill>
                  <a:srgbClr val="F5F8FC"/>
                </a:solidFill>
                <a:latin typeface="Aptos"/>
              </a:defRPr>
            </a:pPr>
            <a:r>
              <a:t>ECG heartbeat data used for research and model development.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645920"/>
            <a:ext cx="3474720" cy="1965960"/>
          </a:xfrm>
          <a:prstGeom prst="roundRect">
            <a:avLst/>
          </a:prstGeom>
          <a:solidFill>
            <a:srgbClr val="182D42"/>
          </a:solidFill>
          <a:ln>
            <a:solidFill>
              <a:srgbClr val="30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ctr"/>
          <a:lstStyle/>
          <a:p>
            <a:pPr algn="ctr">
              <a:defRPr sz="1700" b="1">
                <a:solidFill>
                  <a:srgbClr val="9B77FF"/>
                </a:solidFill>
                <a:latin typeface="Aptos Display"/>
              </a:defRPr>
            </a:pPr>
            <a:r>
              <a:t>MODEL</a:t>
            </a:r>
          </a:p>
          <a:p>
            <a:pPr>
              <a:spcBef>
                <a:spcPts val="700"/>
              </a:spcBef>
              <a:defRPr sz="1600">
                <a:solidFill>
                  <a:srgbClr val="F5F8FC"/>
                </a:solidFill>
                <a:latin typeface="Aptos"/>
              </a:defRPr>
            </a:pPr>
            <a:r>
              <a:t>Random Forest classifier</a:t>
            </a:r>
          </a:p>
          <a:p>
            <a:pPr>
              <a:spcBef>
                <a:spcPts val="700"/>
              </a:spcBef>
              <a:defRPr sz="1600">
                <a:solidFill>
                  <a:srgbClr val="F5F8FC"/>
                </a:solidFill>
                <a:latin typeface="Aptos"/>
              </a:defRPr>
            </a:pPr>
            <a:r>
              <a:t>A supervised ensemble model that combines predictions from multiple decision trees.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5008" y="1645920"/>
            <a:ext cx="3474720" cy="1965960"/>
          </a:xfrm>
          <a:prstGeom prst="roundRect">
            <a:avLst/>
          </a:prstGeom>
          <a:solidFill>
            <a:srgbClr val="182D42"/>
          </a:solidFill>
          <a:ln>
            <a:solidFill>
              <a:srgbClr val="30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ctr"/>
          <a:lstStyle/>
          <a:p>
            <a:pPr algn="ctr">
              <a:defRPr sz="1700" b="1">
                <a:solidFill>
                  <a:srgbClr val="44CD87"/>
                </a:solidFill>
                <a:latin typeface="Aptos Display"/>
              </a:defRPr>
            </a:pPr>
            <a:r>
              <a:t>APPLICATION</a:t>
            </a:r>
          </a:p>
          <a:p>
            <a:pPr>
              <a:spcBef>
                <a:spcPts val="700"/>
              </a:spcBef>
              <a:defRPr sz="1600">
                <a:solidFill>
                  <a:srgbClr val="F5F8FC"/>
                </a:solidFill>
                <a:latin typeface="Aptos"/>
              </a:defRPr>
            </a:pPr>
            <a:r>
              <a:t>Python + Streamlit</a:t>
            </a:r>
          </a:p>
          <a:p>
            <a:pPr>
              <a:spcBef>
                <a:spcPts val="700"/>
              </a:spcBef>
              <a:defRPr sz="1600">
                <a:solidFill>
                  <a:srgbClr val="F5F8FC"/>
                </a:solidFill>
                <a:latin typeface="Aptos"/>
              </a:defRPr>
            </a:pPr>
            <a:r>
              <a:t>Joblib loads the saved model; Plotly supports interactive visualizations.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104241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000" b="1">
                <a:solidFill>
                  <a:srgbClr val="27C6B0"/>
                </a:solidFill>
                <a:latin typeface="Aptos"/>
              </a:defRPr>
            </a:pPr>
            <a:r>
              <a:t>High-level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663440"/>
            <a:ext cx="3063240" cy="914400"/>
          </a:xfrm>
          <a:prstGeom prst="roundRect">
            <a:avLst/>
          </a:prstGeom>
          <a:solidFill>
            <a:srgbClr val="182D42"/>
          </a:solidFill>
          <a:ln>
            <a:solidFill>
              <a:srgbClr val="47A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1. Prepare</a:t>
            </a:r>
          </a:p>
          <a:p>
            <a:pPr algn="ctr">
              <a:defRPr sz="1000">
                <a:solidFill>
                  <a:srgbClr val="B4C3D2"/>
                </a:solidFill>
                <a:latin typeface="Aptos"/>
              </a:defRPr>
            </a:pPr>
            <a:r>
              <a:t>Load / prepare ECG input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0" y="5120640"/>
            <a:ext cx="548640" cy="0"/>
          </a:xfrm>
          <a:prstGeom prst="line">
            <a:avLst/>
          </a:prstGeom>
          <a:ln w="25400">
            <a:solidFill>
              <a:srgbClr val="47A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80559" y="4663440"/>
            <a:ext cx="3063240" cy="914400"/>
          </a:xfrm>
          <a:prstGeom prst="roundRect">
            <a:avLst/>
          </a:prstGeom>
          <a:solidFill>
            <a:srgbClr val="182D42"/>
          </a:solidFill>
          <a:ln>
            <a:solidFill>
              <a:srgbClr val="9B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2. Predict</a:t>
            </a:r>
          </a:p>
          <a:p>
            <a:pPr algn="ctr">
              <a:defRPr sz="1000">
                <a:solidFill>
                  <a:srgbClr val="B4C3D2"/>
                </a:solidFill>
                <a:latin typeface="Aptos"/>
              </a:defRPr>
            </a:pPr>
            <a:r>
              <a:t>Run trained model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43800" y="5120640"/>
            <a:ext cx="548640" cy="0"/>
          </a:xfrm>
          <a:prstGeom prst="line">
            <a:avLst/>
          </a:prstGeom>
          <a:ln w="25400">
            <a:solidFill>
              <a:srgbClr val="47A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83879" y="4663440"/>
            <a:ext cx="3063240" cy="914400"/>
          </a:xfrm>
          <a:prstGeom prst="roundRect">
            <a:avLst/>
          </a:prstGeom>
          <a:solidFill>
            <a:srgbClr val="182D42"/>
          </a:solidFill>
          <a:ln>
            <a:solidFill>
              <a:srgbClr val="44C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3. Present</a:t>
            </a:r>
          </a:p>
          <a:p>
            <a:pPr algn="ctr">
              <a:defRPr sz="1000">
                <a:solidFill>
                  <a:srgbClr val="B4C3D2"/>
                </a:solidFill>
                <a:latin typeface="Aptos"/>
              </a:defRPr>
            </a:pPr>
            <a:r>
              <a:t>Show classes and summaries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987552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000" b="1">
                <a:solidFill>
                  <a:srgbClr val="27C6B0"/>
                </a:solidFill>
                <a:latin typeface="Aptos"/>
              </a:defRPr>
            </a:pPr>
            <a:r>
              <a:t>05 • APPLICATION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"/>
              </a:defRPr>
            </a:pPr>
            <a:r>
              <a:t>Dashboard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43584"/>
            <a:ext cx="960120" cy="41148"/>
          </a:xfrm>
          <a:prstGeom prst="rect">
            <a:avLst/>
          </a:prstGeom>
          <a:solidFill>
            <a:srgbClr val="27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B4C3D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166360" cy="1371600"/>
          </a:xfrm>
          <a:prstGeom prst="roundRect">
            <a:avLst/>
          </a:prstGeom>
          <a:solidFill>
            <a:srgbClr val="182D42"/>
          </a:solidFill>
          <a:ln>
            <a:solidFill>
              <a:srgbClr val="30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ctr"/>
          <a:lstStyle/>
          <a:p>
            <a:pPr algn="ctr">
              <a:defRPr sz="1700" b="1">
                <a:solidFill>
                  <a:srgbClr val="27C6B0"/>
                </a:solidFill>
                <a:latin typeface="Aptos Display"/>
              </a:defRPr>
            </a:pPr>
            <a:r>
              <a:t>ECG waveform</a:t>
            </a:r>
          </a:p>
          <a:p>
            <a:pPr>
              <a:spcBef>
                <a:spcPts val="700"/>
              </a:spcBef>
              <a:defRPr sz="1600">
                <a:solidFill>
                  <a:srgbClr val="F5F8FC"/>
                </a:solidFill>
                <a:latin typeface="Aptos"/>
              </a:defRPr>
            </a:pPr>
            <a:r>
              <a:t>Inspect the selected ECG signal visually.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79" y="1691640"/>
            <a:ext cx="5166360" cy="1371600"/>
          </a:xfrm>
          <a:prstGeom prst="roundRect">
            <a:avLst/>
          </a:prstGeom>
          <a:solidFill>
            <a:srgbClr val="182D42"/>
          </a:solidFill>
          <a:ln>
            <a:solidFill>
              <a:srgbClr val="30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ctr"/>
          <a:lstStyle/>
          <a:p>
            <a:pPr algn="ctr">
              <a:defRPr sz="1700" b="1">
                <a:solidFill>
                  <a:srgbClr val="47A0E8"/>
                </a:solidFill>
                <a:latin typeface="Aptos Display"/>
              </a:defRPr>
            </a:pPr>
            <a:r>
              <a:t>Prediction summary</a:t>
            </a:r>
          </a:p>
          <a:p>
            <a:pPr>
              <a:spcBef>
                <a:spcPts val="700"/>
              </a:spcBef>
              <a:defRPr sz="1600">
                <a:solidFill>
                  <a:srgbClr val="F5F8FC"/>
                </a:solidFill>
                <a:latin typeface="Aptos"/>
              </a:defRPr>
            </a:pPr>
            <a:r>
              <a:t>Review the model output and category distribution.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20440"/>
            <a:ext cx="5166360" cy="1371600"/>
          </a:xfrm>
          <a:prstGeom prst="roundRect">
            <a:avLst/>
          </a:prstGeom>
          <a:solidFill>
            <a:srgbClr val="182D42"/>
          </a:solidFill>
          <a:ln>
            <a:solidFill>
              <a:srgbClr val="30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ctr"/>
          <a:lstStyle/>
          <a:p>
            <a:pPr algn="ctr">
              <a:defRPr sz="1700" b="1">
                <a:solidFill>
                  <a:srgbClr val="9B77FF"/>
                </a:solidFill>
                <a:latin typeface="Aptos Display"/>
              </a:defRPr>
            </a:pPr>
            <a:r>
              <a:t>Detected beats</a:t>
            </a:r>
          </a:p>
          <a:p>
            <a:pPr>
              <a:spcBef>
                <a:spcPts val="700"/>
              </a:spcBef>
              <a:defRPr sz="1600">
                <a:solidFill>
                  <a:srgbClr val="F5F8FC"/>
                </a:solidFill>
                <a:latin typeface="Aptos"/>
              </a:defRPr>
            </a:pPr>
            <a:r>
              <a:t>Inspect beat-level results in a 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3520440"/>
            <a:ext cx="5166360" cy="1371600"/>
          </a:xfrm>
          <a:prstGeom prst="roundRect">
            <a:avLst/>
          </a:prstGeom>
          <a:solidFill>
            <a:srgbClr val="182D42"/>
          </a:solidFill>
          <a:ln>
            <a:solidFill>
              <a:srgbClr val="30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ctr"/>
          <a:lstStyle/>
          <a:p>
            <a:pPr algn="ctr">
              <a:defRPr sz="1700" b="1">
                <a:solidFill>
                  <a:srgbClr val="44CD87"/>
                </a:solidFill>
                <a:latin typeface="Aptos Display"/>
              </a:defRPr>
            </a:pPr>
            <a:r>
              <a:t>Research workflow</a:t>
            </a:r>
          </a:p>
          <a:p>
            <a:pPr>
              <a:spcBef>
                <a:spcPts val="700"/>
              </a:spcBef>
              <a:defRPr sz="1600">
                <a:solidFill>
                  <a:srgbClr val="F5F8FC"/>
                </a:solidFill>
                <a:latin typeface="Aptos"/>
              </a:defRPr>
            </a:pPr>
            <a:r>
              <a:t>Bring signal, prediction and summary views together.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987552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000" b="1">
                <a:solidFill>
                  <a:srgbClr val="27C6B0"/>
                </a:solidFill>
                <a:latin typeface="Aptos"/>
              </a:defRPr>
            </a:pPr>
            <a:r>
              <a:t>06 • RESULTS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"/>
              </a:defRPr>
            </a:pPr>
            <a:r>
              <a:t>Evaluation: what to report honestly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43584"/>
            <a:ext cx="960120" cy="41148"/>
          </a:xfrm>
          <a:prstGeom prst="rect">
            <a:avLst/>
          </a:prstGeom>
          <a:solidFill>
            <a:srgbClr val="27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B4C3D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64208"/>
            <a:ext cx="5212080" cy="1920240"/>
          </a:xfrm>
          <a:prstGeom prst="roundRect">
            <a:avLst/>
          </a:prstGeom>
          <a:solidFill>
            <a:srgbClr val="182D42"/>
          </a:solidFill>
          <a:ln>
            <a:solidFill>
              <a:srgbClr val="30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ctr"/>
          <a:lstStyle/>
          <a:p>
            <a:pPr algn="ctr">
              <a:defRPr sz="1700" b="1">
                <a:solidFill>
                  <a:srgbClr val="27C6B0"/>
                </a:solidFill>
                <a:latin typeface="Aptos Display"/>
              </a:defRPr>
            </a:pPr>
            <a:r>
              <a:t>WHAT TO INCLUDE</a:t>
            </a:r>
          </a:p>
          <a:p>
            <a:pPr>
              <a:spcBef>
                <a:spcPts val="700"/>
              </a:spcBef>
              <a:defRPr sz="1500">
                <a:solidFill>
                  <a:srgbClr val="F5F8FC"/>
                </a:solidFill>
                <a:latin typeface="Aptos"/>
              </a:defRPr>
            </a:pPr>
            <a:r>
              <a:t>• Held-out evaluation results</a:t>
            </a:r>
          </a:p>
          <a:p>
            <a:pPr>
              <a:spcBef>
                <a:spcPts val="700"/>
              </a:spcBef>
              <a:defRPr sz="1500">
                <a:solidFill>
                  <a:srgbClr val="F5F8FC"/>
                </a:solidFill>
                <a:latin typeface="Aptos"/>
              </a:defRPr>
            </a:pPr>
            <a:r>
              <a:t>• Confusion matrix</a:t>
            </a:r>
          </a:p>
          <a:p>
            <a:pPr>
              <a:spcBef>
                <a:spcPts val="700"/>
              </a:spcBef>
              <a:defRPr sz="1500">
                <a:solidFill>
                  <a:srgbClr val="F5F8FC"/>
                </a:solidFill>
                <a:latin typeface="Aptos"/>
              </a:defRPr>
            </a:pPr>
            <a:r>
              <a:t>• Precision, recall and F1 by class</a:t>
            </a:r>
          </a:p>
          <a:p>
            <a:pPr>
              <a:spcBef>
                <a:spcPts val="700"/>
              </a:spcBef>
              <a:defRPr sz="1500">
                <a:solidFill>
                  <a:srgbClr val="F5F8FC"/>
                </a:solidFill>
                <a:latin typeface="Aptos"/>
              </a:defRPr>
            </a:pPr>
            <a:r>
              <a:t>• Notes on class imbalance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64208"/>
            <a:ext cx="5212080" cy="1920240"/>
          </a:xfrm>
          <a:prstGeom prst="roundRect">
            <a:avLst/>
          </a:prstGeom>
          <a:solidFill>
            <a:srgbClr val="182D42"/>
          </a:solidFill>
          <a:ln>
            <a:solidFill>
              <a:srgbClr val="30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ctr"/>
          <a:lstStyle/>
          <a:p>
            <a:pPr algn="ctr">
              <a:defRPr sz="1700" b="1">
                <a:solidFill>
                  <a:srgbClr val="FFC24D"/>
                </a:solidFill>
                <a:latin typeface="Aptos Display"/>
              </a:defRPr>
            </a:pPr>
            <a:r>
              <a:t>CURRENT LIMITATIONS</a:t>
            </a:r>
          </a:p>
          <a:p>
            <a:pPr>
              <a:spcBef>
                <a:spcPts val="700"/>
              </a:spcBef>
              <a:defRPr sz="1500">
                <a:solidFill>
                  <a:srgbClr val="F5F8FC"/>
                </a:solidFill>
                <a:latin typeface="Aptos"/>
              </a:defRPr>
            </a:pPr>
            <a:r>
              <a:t>• Rare heartbeat categories may be difficult to classify</a:t>
            </a:r>
          </a:p>
          <a:p>
            <a:pPr>
              <a:spcBef>
                <a:spcPts val="700"/>
              </a:spcBef>
              <a:defRPr sz="1500">
                <a:solidFill>
                  <a:srgbClr val="F5F8FC"/>
                </a:solidFill>
                <a:latin typeface="Aptos"/>
              </a:defRPr>
            </a:pPr>
            <a:r>
              <a:t>• Performance can vary across records and patients</a:t>
            </a:r>
          </a:p>
          <a:p>
            <a:pPr>
              <a:spcBef>
                <a:spcPts val="700"/>
              </a:spcBef>
              <a:defRPr sz="1500">
                <a:solidFill>
                  <a:srgbClr val="F5F8FC"/>
                </a:solidFill>
                <a:latin typeface="Aptos"/>
              </a:defRPr>
            </a:pPr>
            <a:r>
              <a:t>• Independent validation is still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1042416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000" b="1">
                <a:solidFill>
                  <a:srgbClr val="FF6F7D"/>
                </a:solidFill>
                <a:latin typeface="Aptos"/>
              </a:defRPr>
            </a:pPr>
            <a:r>
              <a:t>Do not present a single accuracy number as proof of clinical reliability.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1024128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600" b="0">
                <a:solidFill>
                  <a:srgbClr val="F5F8FC"/>
                </a:solidFill>
                <a:latin typeface="Aptos"/>
              </a:defRPr>
            </a:pPr>
            <a:r>
              <a:t>Recommended next step: run the evaluation script, capture the actual metrics, and add them here. Avoid inventing results or implying clinical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987552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000" b="1">
                <a:solidFill>
                  <a:srgbClr val="27C6B0"/>
                </a:solidFill>
                <a:latin typeface="Aptos"/>
              </a:defRPr>
            </a:pPr>
            <a:r>
              <a:t>07 • IMPACT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"/>
              </a:defRPr>
            </a:pPr>
            <a:r>
              <a:t>Healthcare relevance and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243584"/>
            <a:ext cx="960120" cy="41148"/>
          </a:xfrm>
          <a:prstGeom prst="rect">
            <a:avLst/>
          </a:prstGeom>
          <a:solidFill>
            <a:srgbClr val="27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defRPr sz="900" b="0">
                <a:solidFill>
                  <a:srgbClr val="B4C3D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64208"/>
            <a:ext cx="5166360" cy="2057400"/>
          </a:xfrm>
          <a:prstGeom prst="roundRect">
            <a:avLst/>
          </a:prstGeom>
          <a:solidFill>
            <a:srgbClr val="182D42"/>
          </a:solidFill>
          <a:ln>
            <a:solidFill>
              <a:srgbClr val="30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ctr"/>
          <a:lstStyle/>
          <a:p>
            <a:pPr algn="ctr">
              <a:defRPr sz="1700" b="1">
                <a:solidFill>
                  <a:srgbClr val="27C6B0"/>
                </a:solidFill>
                <a:latin typeface="Aptos Display"/>
              </a:defRPr>
            </a:pPr>
            <a:r>
              <a:t>POTENTIAL VALUE</a:t>
            </a:r>
          </a:p>
          <a:p>
            <a:pPr>
              <a:spcBef>
                <a:spcPts val="700"/>
              </a:spcBef>
              <a:defRPr sz="1600">
                <a:solidFill>
                  <a:srgbClr val="F5F8FC"/>
                </a:solidFill>
                <a:latin typeface="Aptos"/>
              </a:defRPr>
            </a:pPr>
            <a:r>
              <a:t>• Educational exploration of ECG patterns</a:t>
            </a:r>
          </a:p>
          <a:p>
            <a:pPr>
              <a:spcBef>
                <a:spcPts val="700"/>
              </a:spcBef>
              <a:defRPr sz="1600">
                <a:solidFill>
                  <a:srgbClr val="F5F8FC"/>
                </a:solidFill>
                <a:latin typeface="Aptos"/>
              </a:defRPr>
            </a:pPr>
            <a:r>
              <a:t>• Demonstration of an AI-assisted analysis workflow</a:t>
            </a:r>
          </a:p>
          <a:p>
            <a:pPr>
              <a:spcBef>
                <a:spcPts val="700"/>
              </a:spcBef>
              <a:defRPr sz="1600">
                <a:solidFill>
                  <a:srgbClr val="F5F8FC"/>
                </a:solidFill>
                <a:latin typeface="Aptos"/>
              </a:defRPr>
            </a:pPr>
            <a:r>
              <a:t>• Visual summaries for research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64208"/>
            <a:ext cx="5166360" cy="2057400"/>
          </a:xfrm>
          <a:prstGeom prst="roundRect">
            <a:avLst/>
          </a:prstGeom>
          <a:solidFill>
            <a:srgbClr val="182D42"/>
          </a:solidFill>
          <a:ln>
            <a:solidFill>
              <a:srgbClr val="30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ctr"/>
          <a:lstStyle/>
          <a:p>
            <a:pPr algn="ctr">
              <a:defRPr sz="1700" b="1">
                <a:solidFill>
                  <a:srgbClr val="47A0E8"/>
                </a:solidFill>
                <a:latin typeface="Aptos Display"/>
              </a:defRPr>
            </a:pPr>
            <a:r>
              <a:t>FUTURE IMPROVEMENTS</a:t>
            </a:r>
          </a:p>
          <a:p>
            <a:pPr>
              <a:spcBef>
                <a:spcPts val="700"/>
              </a:spcBef>
              <a:defRPr sz="1600">
                <a:solidFill>
                  <a:srgbClr val="F5F8FC"/>
                </a:solidFill>
                <a:latin typeface="Aptos"/>
              </a:defRPr>
            </a:pPr>
            <a:r>
              <a:t>• Independent multi-record validation</a:t>
            </a:r>
          </a:p>
          <a:p>
            <a:pPr>
              <a:spcBef>
                <a:spcPts val="700"/>
              </a:spcBef>
              <a:defRPr sz="1600">
                <a:solidFill>
                  <a:srgbClr val="F5F8FC"/>
                </a:solidFill>
                <a:latin typeface="Aptos"/>
              </a:defRPr>
            </a:pPr>
            <a:r>
              <a:t>• Better handling of rare classes</a:t>
            </a:r>
          </a:p>
          <a:p>
            <a:pPr>
              <a:spcBef>
                <a:spcPts val="700"/>
              </a:spcBef>
              <a:defRPr sz="1600">
                <a:solidFill>
                  <a:srgbClr val="F5F8FC"/>
                </a:solidFill>
                <a:latin typeface="Aptos"/>
              </a:defRPr>
            </a:pPr>
            <a:r>
              <a:t>• Clearer confidence and uncertainty reporting</a:t>
            </a:r>
          </a:p>
          <a:p>
            <a:pPr>
              <a:spcBef>
                <a:spcPts val="700"/>
              </a:spcBef>
              <a:defRPr sz="1600">
                <a:solidFill>
                  <a:srgbClr val="F5F8FC"/>
                </a:solidFill>
                <a:latin typeface="Aptos"/>
              </a:defRPr>
            </a:pPr>
            <a:r>
              <a:t>• More reproducible data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51960"/>
            <a:ext cx="102412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000" b="1">
                <a:solidFill>
                  <a:srgbClr val="27C6B0"/>
                </a:solidFill>
                <a:latin typeface="Aptos"/>
              </a:defRPr>
            </a:pPr>
            <a:r>
              <a:t>Responsible-use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00600"/>
            <a:ext cx="10332720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900" b="0">
                <a:solidFill>
                  <a:srgbClr val="F5F8FC"/>
                </a:solidFill>
                <a:latin typeface="Aptos"/>
              </a:defRPr>
            </a:pPr>
            <a:r>
              <a:t>RhythmTwin is a research prototype, not a medical device. It must not be used to diagnose a condition, choose treatment, or make emergency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640080"/>
            <a:ext cx="98755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1100" b="1">
                <a:solidFill>
                  <a:srgbClr val="27C6B0"/>
                </a:solidFill>
                <a:latin typeface="Aptos"/>
              </a:defRPr>
            </a:pPr>
            <a:r>
              <a:t>RHYTHMTWIN  •  HAPPIEST HEALTH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463040"/>
            <a:ext cx="98755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3000" b="1">
                <a:solidFill>
                  <a:srgbClr val="F5F8FC"/>
                </a:solidFill>
                <a:latin typeface="Aptos"/>
              </a:defRPr>
            </a:pPr>
            <a:r>
              <a:t>From ECG data to an interactive research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606040"/>
            <a:ext cx="9875520" cy="7772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defRPr sz="2100" b="0">
                <a:solidFill>
                  <a:srgbClr val="B4C3D2"/>
                </a:solidFill>
                <a:latin typeface="Aptos"/>
              </a:defRPr>
            </a:pPr>
            <a:r>
              <a:t>RhythmTwin combines ECG data, a trained Random Forest model, and a Streamlit dashboard to explore heartbeat classification.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3977639"/>
            <a:ext cx="4983480" cy="1234440"/>
          </a:xfrm>
          <a:prstGeom prst="roundRect">
            <a:avLst/>
          </a:prstGeom>
          <a:solidFill>
            <a:srgbClr val="182D42"/>
          </a:solidFill>
          <a:ln>
            <a:solidFill>
              <a:srgbClr val="30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ctr"/>
          <a:lstStyle/>
          <a:p>
            <a:pPr algn="ctr">
              <a:defRPr sz="1700" b="1">
                <a:solidFill>
                  <a:srgbClr val="27C6B0"/>
                </a:solidFill>
                <a:latin typeface="Aptos Display"/>
              </a:defRPr>
            </a:pPr>
            <a:r>
              <a:t>KEY TAKEAWAY</a:t>
            </a:r>
          </a:p>
          <a:p>
            <a:pPr>
              <a:spcBef>
                <a:spcPts val="700"/>
              </a:spcBef>
              <a:defRPr sz="1600">
                <a:solidFill>
                  <a:srgbClr val="F5F8FC"/>
                </a:solidFill>
                <a:latin typeface="Aptos"/>
              </a:defRPr>
            </a:pPr>
            <a:r>
              <a:t>An accessible prototype for exploring AI-assisted ECG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3977639"/>
            <a:ext cx="4983480" cy="1234440"/>
          </a:xfrm>
          <a:prstGeom prst="roundRect">
            <a:avLst/>
          </a:prstGeom>
          <a:solidFill>
            <a:srgbClr val="182D42"/>
          </a:solidFill>
          <a:ln>
            <a:solidFill>
              <a:srgbClr val="304C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09728" rtlCol="0" anchor="ctr"/>
          <a:lstStyle/>
          <a:p>
            <a:pPr algn="ctr">
              <a:defRPr sz="1700" b="1">
                <a:solidFill>
                  <a:srgbClr val="47A0E8"/>
                </a:solidFill>
                <a:latin typeface="Aptos Display"/>
              </a:defRPr>
            </a:pPr>
            <a:r>
              <a:t>NEXT MILESTONE</a:t>
            </a:r>
          </a:p>
          <a:p>
            <a:pPr>
              <a:spcBef>
                <a:spcPts val="700"/>
              </a:spcBef>
              <a:defRPr sz="1600">
                <a:solidFill>
                  <a:srgbClr val="F5F8FC"/>
                </a:solidFill>
                <a:latin typeface="Aptos"/>
              </a:defRPr>
            </a:pPr>
            <a:r>
              <a:t>Validate independently, document results, and improve transparency.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320040"/>
            <a:ext cx="2011680" cy="2011680"/>
          </a:xfrm>
          <a:prstGeom prst="ellipse">
            <a:avLst/>
          </a:prstGeom>
          <a:solidFill>
            <a:srgbClr val="18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38360" y="1143000"/>
            <a:ext cx="1143000" cy="1143000"/>
          </a:xfrm>
          <a:prstGeom prst="ellipse">
            <a:avLst/>
          </a:prstGeom>
          <a:solidFill>
            <a:srgbClr val="1C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87000" y="5074920"/>
            <a:ext cx="1051560" cy="1051560"/>
          </a:xfrm>
          <a:prstGeom prst="ellipse">
            <a:avLst/>
          </a:prstGeom>
          <a:solidFill>
            <a:srgbClr val="1B4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1097280" cy="50292"/>
          </a:xfrm>
          <a:prstGeom prst="rect">
            <a:avLst/>
          </a:prstGeom>
          <a:solidFill>
            <a:srgbClr val="27C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566928"/>
            <a:ext cx="7955279" cy="3200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100" b="1">
                <a:solidFill>
                  <a:srgbClr val="27C6B0"/>
                </a:solidFill>
                <a:latin typeface="Aptos Display"/>
              </a:defRPr>
            </a:pPr>
            <a:r>
              <a:t>RHYTHMTWIN  •  HAPPIEST HEALTH DIGITAL TWIN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8066" y="1970532"/>
            <a:ext cx="8046720" cy="9144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4200" b="1">
                <a:solidFill>
                  <a:srgbClr val="F5F8FC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429000"/>
            <a:ext cx="7223760" cy="9601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defRPr sz="1800" b="0">
                <a:solidFill>
                  <a:srgbClr val="B4C3D2"/>
                </a:solidFill>
                <a:latin typeface="Aptos Display"/>
              </a:defRPr>
            </a:pPr>
            <a:r>
              <a:t>RhythmTwin explores ECG heartbeat patterns using machine learning and an interactive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4800600"/>
            <a:ext cx="3977639" cy="566928"/>
          </a:xfrm>
          <a:prstGeom prst="roundRect">
            <a:avLst/>
          </a:prstGeom>
          <a:solidFill>
            <a:srgbClr val="143A46"/>
          </a:solidFill>
          <a:ln>
            <a:solidFill>
              <a:srgbClr val="27C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AI-POWERED HEART RHYTHM DIGITAL TWIN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622</Words>
  <Application>Microsoft Office PowerPoint</Application>
  <PresentationFormat>Widescreen</PresentationFormat>
  <Paragraphs>115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PALLEPATI HASIKA</cp:lastModifiedBy>
  <cp:revision>2</cp:revision>
  <dcterms:created xsi:type="dcterms:W3CDTF">2013-01-27T09:14:16Z</dcterms:created>
  <dcterms:modified xsi:type="dcterms:W3CDTF">2026-10-24T12:27:14Z</dcterms:modified>
  <cp:category/>
</cp:coreProperties>
</file>